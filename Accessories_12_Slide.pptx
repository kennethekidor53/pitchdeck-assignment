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1968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4678"/>
                </a:solidFill>
              </a:defRPr>
            </a:pPr>
            <a:r>
              <a:rPr dirty="0"/>
              <a:t>1 </a:t>
            </a:r>
            <a:r>
              <a:rPr lang="en-US" dirty="0" smtClean="0"/>
              <a:t>KENNY NEXTGEN  COMPANY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Your reliable one-stop shop for computer accessories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899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rPr dirty="0"/>
              <a:t>• Affordable • Reliable • Convenient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• Serving individuals, students, professionals, businesses and institutions.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• </a:t>
            </a:r>
            <a:r>
              <a:rPr lang="en-US" dirty="0" smtClean="0"/>
              <a:t>Located at Lodwar Town Kenya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4678"/>
                </a:solidFill>
              </a:defRPr>
            </a:pPr>
            <a:r>
              <a:t>2 |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Finding the right computer accessory is still harder than it should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Limited availability of essential accessories in one place</a:t>
            </a:r>
          </a:p>
          <a:p>
            <a:pPr>
              <a:spcAft>
                <a:spcPts val="900"/>
              </a:spcAft>
              <a:defRPr sz="1700"/>
            </a:pPr>
            <a:r>
              <a:t>• Unreliable quality and inconsistent pricing</a:t>
            </a:r>
          </a:p>
          <a:p>
            <a:pPr>
              <a:spcAft>
                <a:spcPts val="900"/>
              </a:spcAft>
              <a:defRPr sz="1700"/>
            </a:pPr>
            <a:r>
              <a:t>• Difficulty identifying compatible products</a:t>
            </a:r>
          </a:p>
          <a:p>
            <a:pPr>
              <a:spcAft>
                <a:spcPts val="900"/>
              </a:spcAft>
              <a:defRPr sz="1700"/>
            </a:pPr>
            <a:r>
              <a:t>• Customers lose time visiting multiple sellers</a:t>
            </a:r>
          </a:p>
          <a:p>
            <a:pPr>
              <a:spcAft>
                <a:spcPts val="900"/>
              </a:spcAft>
              <a:defRPr sz="1700"/>
            </a:pPr>
            <a:r>
              <a:t>• Businesses and institutions often source from multiple suppliers</a:t>
            </a:r>
          </a:p>
          <a:p>
            <a:pPr>
              <a:spcAft>
                <a:spcPts val="900"/>
              </a:spcAft>
              <a:defRPr sz="1700"/>
            </a:pPr>
            <a:r>
              <a:t>• Result: wasted time, money and effort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4678"/>
                </a:solidFill>
              </a:defRPr>
            </a:pPr>
            <a:r>
              <a:t>3 |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One trusted place for the accessories people use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Wide selection of frequently needed accessories</a:t>
            </a:r>
          </a:p>
          <a:p>
            <a:pPr>
              <a:spcAft>
                <a:spcPts val="900"/>
              </a:spcAft>
              <a:defRPr sz="1700"/>
            </a:pPr>
            <a:r>
              <a:t>• Reliable sourcing from trusted suppliers</a:t>
            </a:r>
          </a:p>
          <a:p>
            <a:pPr>
              <a:spcAft>
                <a:spcPts val="900"/>
              </a:spcAft>
              <a:defRPr sz="1700"/>
            </a:pPr>
            <a:r>
              <a:t>• Competitive pricing across customer budgets</a:t>
            </a:r>
          </a:p>
          <a:p>
            <a:pPr>
              <a:spcAft>
                <a:spcPts val="900"/>
              </a:spcAft>
              <a:defRPr sz="1700"/>
            </a:pPr>
            <a:r>
              <a:t>• Product guidance and compatibility support</a:t>
            </a:r>
          </a:p>
          <a:p>
            <a:pPr>
              <a:spcAft>
                <a:spcPts val="900"/>
              </a:spcAft>
              <a:defRPr sz="1700"/>
            </a:pPr>
            <a:r>
              <a:t>• Convenient ordering, collection and/or delivery</a:t>
            </a:r>
          </a:p>
          <a:p>
            <a:pPr>
              <a:spcAft>
                <a:spcPts val="900"/>
              </a:spcAft>
              <a:defRPr sz="1700"/>
            </a:pPr>
            <a:r>
              <a:t>• Clear after-sales support</a:t>
            </a:r>
          </a:p>
          <a:p>
            <a:pPr>
              <a:spcAft>
                <a:spcPts val="900"/>
              </a:spcAft>
              <a:defRPr sz="1700"/>
            </a:pPr>
            <a:r>
              <a:t>• Promise: The right computer accessory, at the right price, with less hassle.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4678"/>
                </a:solidFill>
              </a:defRPr>
            </a:pPr>
            <a:r>
              <a:t>4 |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 complete ecosystem of computer accessories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t>• Input: keyboards, mice, wireless sets</a:t>
            </a:r>
          </a:p>
          <a:p>
            <a:pPr>
              <a:spcAft>
                <a:spcPts val="900"/>
              </a:spcAft>
              <a:defRPr sz="1500"/>
            </a:pPr>
            <a:r>
              <a:t>• Audio: headsets, headphones, speakers, microphones</a:t>
            </a:r>
          </a:p>
          <a:p>
            <a:pPr>
              <a:spcAft>
                <a:spcPts val="900"/>
              </a:spcAft>
              <a:defRPr sz="1500"/>
            </a:pPr>
            <a:r>
              <a:t>• Power: laptop chargers, adapters, extension cables</a:t>
            </a:r>
          </a:p>
          <a:p>
            <a:pPr>
              <a:spcAft>
                <a:spcPts val="900"/>
              </a:spcAft>
              <a:defRPr sz="1500"/>
            </a:pPr>
            <a:r>
              <a:t>• Connectivity: HDMI, USB, Ethernet, Type-C cables/adapters</a:t>
            </a:r>
          </a:p>
          <a:p>
            <a:pPr>
              <a:spcAft>
                <a:spcPts val="900"/>
              </a:spcAft>
              <a:defRPr sz="1500"/>
            </a:pPr>
            <a:r>
              <a:t>• Storage: flash drives and memory cards</a:t>
            </a:r>
          </a:p>
          <a:p>
            <a:pPr>
              <a:spcAft>
                <a:spcPts val="900"/>
              </a:spcAft>
              <a:defRPr sz="1500"/>
            </a:pPr>
            <a:r>
              <a:t>• Video: webcams and HDMI accessories</a:t>
            </a:r>
          </a:p>
          <a:p>
            <a:pPr>
              <a:spcAft>
                <a:spcPts val="900"/>
              </a:spcAft>
              <a:defRPr sz="1500"/>
            </a:pPr>
            <a:r>
              <a:t>• Laptop/workspace: stands, cooling pads, sleeves, bags and mouse pads</a:t>
            </a:r>
          </a:p>
          <a:p>
            <a:pPr>
              <a:spcAft>
                <a:spcPts val="900"/>
              </a:spcAft>
              <a:defRPr sz="1500"/>
            </a:pPr>
            <a:r>
              <a:t>• Networking: cables, adapters and selected networking accessories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4678"/>
                </a:solidFill>
              </a:defRPr>
            </a:pPr>
            <a:r>
              <a:t>5 | TARGET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Serving people and organizations that depend on computers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8992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rPr dirty="0"/>
              <a:t>• Students — affordable peripherals, storage, chargers and headsets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• Professionals &amp; remote workers — webcams, headsets, stands and wireless peripherals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• SMEs — peripherals, cables, adapters, storage and networking accessories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• Schools &amp; training institutions — bulk computer-lab accessories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• Corporate &amp; institutional customers — recurring procurement and replacement needs</a:t>
            </a:r>
          </a:p>
          <a:p>
            <a:pPr>
              <a:spcAft>
                <a:spcPts val="900"/>
              </a:spcAft>
              <a:defRPr sz="1700"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4678"/>
                </a:solidFill>
              </a:defRPr>
            </a:pPr>
            <a:r>
              <a:t>6 | 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 recurring market driven by computer usage and replacement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899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rPr dirty="0"/>
              <a:t>TAM — all spending on computer peripherals and accessories in our target markets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SAM — the portion we can realistically serve by geography, customer and product category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SOM — the share we aim to capture during the initial operating period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• Drivers: computer adoption, digital education, SMEs, remote work, replacements, upgrades and e-commerce</a:t>
            </a:r>
          </a:p>
          <a:p>
            <a:pPr>
              <a:spcAft>
                <a:spcPts val="900"/>
              </a:spcAft>
              <a:defRPr sz="1700"/>
            </a:pPr>
            <a:r>
              <a:rPr dirty="0" smtClean="0"/>
              <a:t>• </a:t>
            </a:r>
            <a:r>
              <a:rPr dirty="0"/>
              <a:t>Figures should be supported by credible market data and explicit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4678"/>
                </a:solidFill>
              </a:defRPr>
            </a:pPr>
            <a:r>
              <a:t>7 |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market is fragmented across several buying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Specialist computer shops — product knowledge, but selection/convenience varies</a:t>
            </a:r>
          </a:p>
          <a:p>
            <a:pPr>
              <a:spcAft>
                <a:spcPts val="900"/>
              </a:spcAft>
              <a:defRPr sz="1700"/>
            </a:pPr>
            <a:r>
              <a:t>• Large electronics retailers — broad reach, potentially higher overheads</a:t>
            </a:r>
          </a:p>
          <a:p>
            <a:pPr>
              <a:spcAft>
                <a:spcPts val="900"/>
              </a:spcAft>
              <a:defRPr sz="1700"/>
            </a:pPr>
            <a:r>
              <a:t>• Online marketplaces — selection and convenience, but seller/compatibility uncertainty</a:t>
            </a:r>
          </a:p>
          <a:p>
            <a:pPr>
              <a:spcAft>
                <a:spcPts val="900"/>
              </a:spcAft>
              <a:defRPr sz="1700"/>
            </a:pPr>
            <a:r>
              <a:t>• Informal/local sellers — accessible pricing, but quality and support can vary</a:t>
            </a:r>
          </a:p>
          <a:p>
            <a:pPr>
              <a:spcAft>
                <a:spcPts val="900"/>
              </a:spcAft>
              <a:defRPr sz="1700"/>
            </a:pPr>
            <a:r>
              <a:t>• Direct imports — potentially lower prices, but sourcing and warranty complexity</a:t>
            </a:r>
          </a:p>
          <a:p>
            <a:pPr>
              <a:spcAft>
                <a:spcPts val="900"/>
              </a:spcAft>
              <a:defRPr sz="1700"/>
            </a:pPr>
            <a:r>
              <a:t>• Our position: affordability + reliability + variety + convenience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4678"/>
                </a:solidFill>
              </a:defRPr>
            </a:pPr>
            <a:r>
              <a:t>8 |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Our advantage is execution: trust, availability and convenience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t>• Curated inventory focused on fast-moving products</a:t>
            </a:r>
          </a:p>
          <a:p>
            <a:pPr>
              <a:spcAft>
                <a:spcPts val="900"/>
              </a:spcAft>
              <a:defRPr sz="1500"/>
            </a:pPr>
            <a:r>
              <a:t>• Reliable supplier relationships</a:t>
            </a:r>
          </a:p>
          <a:p>
            <a:pPr>
              <a:spcAft>
                <a:spcPts val="900"/>
              </a:spcAft>
              <a:defRPr sz="1500"/>
            </a:pPr>
            <a:r>
              <a:t>• Compatibility guidance that reduces wrong purchases</a:t>
            </a:r>
          </a:p>
          <a:p>
            <a:pPr>
              <a:spcAft>
                <a:spcPts val="900"/>
              </a:spcAft>
              <a:defRPr sz="1500"/>
            </a:pPr>
            <a:r>
              <a:t>• Competitive pricing through disciplined procurement</a:t>
            </a:r>
          </a:p>
          <a:p>
            <a:pPr>
              <a:spcAft>
                <a:spcPts val="900"/>
              </a:spcAft>
              <a:defRPr sz="1500"/>
            </a:pPr>
            <a:r>
              <a:t>• Physical + digital ordering and delivery</a:t>
            </a:r>
          </a:p>
          <a:p>
            <a:pPr>
              <a:spcAft>
                <a:spcPts val="900"/>
              </a:spcAft>
              <a:defRPr sz="1500"/>
            </a:pPr>
            <a:r>
              <a:t>• Customer relationships that drive repeat purchases</a:t>
            </a:r>
          </a:p>
          <a:p>
            <a:pPr>
              <a:spcAft>
                <a:spcPts val="900"/>
              </a:spcAft>
              <a:defRPr sz="1500"/>
            </a:pPr>
            <a:r>
              <a:t>• B2B capability for companies, schools and institutions</a:t>
            </a:r>
          </a:p>
          <a:p>
            <a:pPr>
              <a:spcAft>
                <a:spcPts val="900"/>
              </a:spcAft>
              <a:defRPr sz="1500"/>
            </a:pPr>
            <a:r>
              <a:t>• Long-term moat: supplier relationships + customer data + repeat purchasing + B2B accounts + operational efficiency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4678"/>
                </a:solidFill>
              </a:defRPr>
            </a:pPr>
            <a:r>
              <a:t>9 | TRACTION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Build a focused retail operation, then scale into B2B and digital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8992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rPr dirty="0"/>
              <a:t>• Current stage: </a:t>
            </a:r>
            <a:r>
              <a:rPr dirty="0" smtClean="0"/>
              <a:t>Idea </a:t>
            </a:r>
            <a:r>
              <a:rPr dirty="0"/>
              <a:t>/ Startup / </a:t>
            </a:r>
            <a:r>
              <a:rPr dirty="0" smtClean="0"/>
              <a:t>Operating</a:t>
            </a:r>
            <a:endParaRPr dirty="0"/>
          </a:p>
          <a:p>
            <a:pPr>
              <a:spcAft>
                <a:spcPts val="900"/>
              </a:spcAft>
              <a:defRPr sz="1700"/>
            </a:pPr>
            <a:r>
              <a:rPr dirty="0"/>
              <a:t>• Traction: Customers </a:t>
            </a:r>
            <a:endParaRPr lang="en-US" dirty="0" smtClean="0"/>
          </a:p>
          <a:p>
            <a:pPr>
              <a:spcAft>
                <a:spcPts val="900"/>
              </a:spcAft>
              <a:defRPr sz="1700"/>
            </a:pPr>
            <a:r>
              <a:rPr dirty="0" smtClean="0"/>
              <a:t>• Products</a:t>
            </a:r>
            <a:endParaRPr lang="en-US" dirty="0" smtClean="0"/>
          </a:p>
          <a:p>
            <a:pPr>
              <a:spcAft>
                <a:spcPts val="900"/>
              </a:spcAft>
              <a:defRPr sz="1700"/>
            </a:pPr>
            <a:r>
              <a:rPr lang="en-US" dirty="0" smtClean="0"/>
              <a:t>P</a:t>
            </a:r>
            <a:r>
              <a:rPr dirty="0" smtClean="0"/>
              <a:t>hase </a:t>
            </a:r>
            <a:r>
              <a:rPr dirty="0"/>
              <a:t>1 — Establish: core range, suppliers, customer base and inventory controls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Phase 2 — Grow: online ordering, delivery, new categories 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Phase 3 — Scale: geographic expansion, institutional contracts and stronger procurement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Phase 4 — Expand: additional locations/fulfillment and private-label opportunities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4678"/>
                </a:solidFill>
              </a:defRPr>
            </a:pPr>
            <a:r>
              <a:t>10 | BUSINESS / 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Simple transaction-based revenue with multiple growth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8992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rPr dirty="0"/>
              <a:t>• Retail sales — individual accessory purchases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• </a:t>
            </a:r>
            <a:r>
              <a:rPr dirty="0" smtClean="0"/>
              <a:t>bulk </a:t>
            </a:r>
            <a:r>
              <a:rPr dirty="0"/>
              <a:t>sales — companies, schools, institutions and other organizations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• Online sales &amp; delivery — digital ordering with fulfillment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• Bundles — student, office, work-from-home and connectivity bundles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• Future opportunity — private label for selected high-volume products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Revenue = Number of transactions × Average order value</a:t>
            </a:r>
          </a:p>
          <a:p>
            <a:pPr>
              <a:spcAft>
                <a:spcPts val="900"/>
              </a:spcAft>
              <a:defRPr sz="1700"/>
            </a:pPr>
            <a:r>
              <a:rPr dirty="0"/>
              <a:t>• Key metrics: gross margin, AOV, CAC, repeat rate, inventory turnover and stock-outs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4678"/>
                </a:solidFill>
              </a:defRPr>
            </a:pPr>
            <a:r>
              <a:t>11 |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Meet customers where they already shop and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Local: visible retail presence, clear pricing and in-store product assistance</a:t>
            </a:r>
          </a:p>
          <a:p>
            <a:pPr>
              <a:spcAft>
                <a:spcPts val="900"/>
              </a:spcAft>
              <a:defRPr sz="1700"/>
            </a:pPr>
            <a:r>
              <a:t>• Digital: WhatsApp Business, social media, Google Business Profile and website/e-commerce</a:t>
            </a:r>
          </a:p>
          <a:p>
            <a:pPr>
              <a:spcAft>
                <a:spcPts val="900"/>
              </a:spcAft>
              <a:defRPr sz="1700"/>
            </a:pPr>
            <a:r>
              <a:t>• Content: demonstrations, compatibility guides, comparisons and setup tips</a:t>
            </a:r>
          </a:p>
          <a:p>
            <a:pPr>
              <a:spcAft>
                <a:spcPts val="900"/>
              </a:spcAft>
              <a:defRPr sz="1700"/>
            </a:pPr>
            <a:r>
              <a:t>• Referrals: turn satisfied customers into a repeat acquisition channel</a:t>
            </a:r>
          </a:p>
          <a:p>
            <a:pPr>
              <a:spcAft>
                <a:spcPts val="900"/>
              </a:spcAft>
              <a:defRPr sz="1700"/>
            </a:pPr>
            <a:r>
              <a:t>• Partnerships: repair technicians, IT providers, schools, SMEs, cyber cafés and corporate IT teams</a:t>
            </a:r>
          </a:p>
          <a:p>
            <a:pPr>
              <a:spcAft>
                <a:spcPts val="900"/>
              </a:spcAft>
              <a:defRPr sz="1700"/>
            </a:pPr>
            <a:r>
              <a:t>• B2B motion: Prospect → Quote → Bulk order → Delivery → Repeat procurement</a:t>
            </a:r>
          </a:p>
          <a:p>
            <a:pPr>
              <a:spcAft>
                <a:spcPts val="900"/>
              </a:spcAft>
              <a:defRPr sz="1700"/>
            </a:pPr>
            <a:r>
              <a:t>• Core message: Everything you need to connect, protect, power and upgrade your computer.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4678"/>
                </a:solidFill>
              </a:defRPr>
            </a:pPr>
            <a:r>
              <a:t>12 | THE ASK +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Funding to build inventory, customer acquisition and scalable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54711"/>
            <a:ext cx="10789920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rPr dirty="0" smtClean="0"/>
              <a:t>ASK</a:t>
            </a:r>
            <a:endParaRPr lang="en-US" dirty="0" smtClean="0"/>
          </a:p>
          <a:p>
            <a:pPr>
              <a:spcAft>
                <a:spcPts val="900"/>
              </a:spcAft>
              <a:defRPr sz="1500"/>
            </a:pPr>
            <a:r>
              <a:rPr dirty="0" smtClean="0"/>
              <a:t>• </a:t>
            </a:r>
            <a:r>
              <a:rPr dirty="0"/>
              <a:t>Use of funds: Inventory </a:t>
            </a:r>
            <a:r>
              <a:rPr dirty="0" smtClean="0"/>
              <a:t> </a:t>
            </a:r>
            <a:r>
              <a:rPr dirty="0"/>
              <a:t>• Marketing </a:t>
            </a:r>
            <a:r>
              <a:rPr dirty="0" smtClean="0"/>
              <a:t> </a:t>
            </a:r>
            <a:r>
              <a:rPr dirty="0"/>
              <a:t>• Technology </a:t>
            </a:r>
            <a:r>
              <a:rPr dirty="0" smtClean="0"/>
              <a:t> </a:t>
            </a:r>
            <a:r>
              <a:rPr dirty="0"/>
              <a:t>• </a:t>
            </a:r>
            <a:r>
              <a:rPr dirty="0" smtClean="0"/>
              <a:t>Operations • Working capital </a:t>
            </a:r>
          </a:p>
          <a:p>
            <a:pPr>
              <a:spcAft>
                <a:spcPts val="900"/>
              </a:spcAft>
              <a:defRPr sz="1500"/>
            </a:pPr>
            <a:r>
              <a:rPr dirty="0" smtClean="0"/>
              <a:t>• Milestones:  customers • monthly revenue  • %gross margin target</a:t>
            </a:r>
          </a:p>
          <a:p>
            <a:pPr>
              <a:spcAft>
                <a:spcPts val="900"/>
              </a:spcAft>
              <a:defRPr sz="1500"/>
            </a:pPr>
            <a:r>
              <a:rPr dirty="0" smtClean="0"/>
              <a:t>TEAM</a:t>
            </a:r>
            <a:endParaRPr dirty="0"/>
          </a:p>
          <a:p>
            <a:pPr>
              <a:spcAft>
                <a:spcPts val="900"/>
              </a:spcAft>
              <a:defRPr sz="1500"/>
            </a:pPr>
            <a:r>
              <a:rPr lang="en-US" dirty="0" smtClean="0"/>
              <a:t>Laban Esekon</a:t>
            </a:r>
            <a:r>
              <a:rPr dirty="0" smtClean="0"/>
              <a:t>— </a:t>
            </a:r>
            <a:r>
              <a:rPr dirty="0"/>
              <a:t>Founder / </a:t>
            </a:r>
            <a:r>
              <a:rPr dirty="0" smtClean="0"/>
              <a:t>CEO</a:t>
            </a:r>
            <a:endParaRPr lang="en-US" dirty="0" smtClean="0"/>
          </a:p>
          <a:p>
            <a:pPr>
              <a:spcAft>
                <a:spcPts val="900"/>
              </a:spcAft>
              <a:defRPr sz="1500"/>
            </a:pPr>
            <a:r>
              <a:rPr lang="en-US" dirty="0" smtClean="0"/>
              <a:t>George Esinyen</a:t>
            </a:r>
            <a:r>
              <a:rPr dirty="0" smtClean="0"/>
              <a:t>— </a:t>
            </a:r>
            <a:r>
              <a:rPr dirty="0"/>
              <a:t>Operations / </a:t>
            </a:r>
            <a:r>
              <a:rPr dirty="0" smtClean="0"/>
              <a:t>Procurement</a:t>
            </a:r>
            <a:endParaRPr lang="en-US" dirty="0" smtClean="0"/>
          </a:p>
          <a:p>
            <a:pPr>
              <a:spcAft>
                <a:spcPts val="900"/>
              </a:spcAft>
              <a:defRPr sz="1500"/>
            </a:pPr>
            <a:r>
              <a:rPr lang="en-US" dirty="0" smtClean="0"/>
              <a:t>Gabriel Tukoi</a:t>
            </a:r>
            <a:r>
              <a:rPr dirty="0" smtClean="0"/>
              <a:t>— </a:t>
            </a:r>
            <a:r>
              <a:rPr dirty="0"/>
              <a:t>Sales &amp; </a:t>
            </a:r>
            <a:r>
              <a:rPr dirty="0" smtClean="0"/>
              <a:t>Marketing</a:t>
            </a:r>
            <a:endParaRPr lang="en-US" dirty="0" smtClean="0"/>
          </a:p>
          <a:p>
            <a:pPr>
              <a:spcAft>
                <a:spcPts val="900"/>
              </a:spcAft>
              <a:defRPr sz="15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921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ICT LCRH DEPARTMENT</dc:creator>
  <cp:keywords/>
  <dc:description>generated using python-pptx</dc:description>
  <cp:lastModifiedBy>LCRH PHARMACY</cp:lastModifiedBy>
  <cp:revision>4</cp:revision>
  <dcterms:created xsi:type="dcterms:W3CDTF">2013-01-27T09:14:16Z</dcterms:created>
  <dcterms:modified xsi:type="dcterms:W3CDTF">2026-10-01T14:44:55Z</dcterms:modified>
  <cp:category/>
</cp:coreProperties>
</file>